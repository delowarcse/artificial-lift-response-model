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8"/>
  </p:normalViewPr>
  <p:slideViewPr>
    <p:cSldViewPr snapToGrid="0" snapToObjects="1">
      <p:cViewPr varScale="1">
        <p:scale>
          <a:sx n="101" d="100"/>
          <a:sy n="101" d="100"/>
        </p:scale>
        <p:origin x="9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66928" y="603504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7552" y="603504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 spc="150">
                <a:solidFill>
                  <a:srgbClr val="CFE3DF"/>
                </a:solidFill>
                <a:latin typeface="Calibri"/>
              </a:rPr>
              <a:t>ASPM SURROGATE MODELING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148840"/>
            <a:ext cx="110642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Cambria"/>
              </a:rPr>
              <a:t>Surrogate modeling for artificial-lift</a:t>
            </a:r>
          </a:p>
          <a:p>
            <a:r>
              <a:rPr sz="4000" b="1" i="0" dirty="0">
                <a:solidFill>
                  <a:srgbClr val="FFFFFF"/>
                </a:solidFill>
                <a:latin typeface="Cambria"/>
              </a:rPr>
              <a:t>setpoint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365760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0" i="0" dirty="0">
                <a:solidFill>
                  <a:srgbClr val="CFE3DF"/>
                </a:solidFill>
                <a:latin typeface="Calibri"/>
              </a:rPr>
              <a:t>Predicting the 48-hour liquid-rate response to a setpoint change, and scoring candidate actions under calibrated uncertainty.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7176D9-B608-A068-0986-18A49A5FE556}"/>
              </a:ext>
            </a:extLst>
          </p:cNvPr>
          <p:cNvSpPr txBox="1"/>
          <p:nvPr/>
        </p:nvSpPr>
        <p:spPr>
          <a:xfrm>
            <a:off x="603504" y="4389120"/>
            <a:ext cx="4984496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800" b="0" i="0" dirty="0">
                <a:solidFill>
                  <a:srgbClr val="CFE3DF"/>
                </a:solidFill>
                <a:latin typeface="Calibri"/>
              </a:rPr>
              <a:t>Delowar Hossain</a:t>
            </a:r>
          </a:p>
          <a:p>
            <a:r>
              <a:rPr lang="en-US" dirty="0">
                <a:solidFill>
                  <a:srgbClr val="CFE3DF"/>
                </a:solidFill>
                <a:latin typeface="Calibri"/>
              </a:rPr>
              <a:t>AI, ML, &amp; Data Scientist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 spc="140">
                <a:solidFill>
                  <a:srgbClr val="2A9D8F"/>
                </a:solidFill>
                <a:latin typeface="Calibri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783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264653"/>
                </a:solidFill>
                <a:latin typeface="Cambria"/>
              </a:rPr>
              <a:t>The problem and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61264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50" b="0" i="0">
                <a:solidFill>
                  <a:srgbClr val="24333B"/>
                </a:solidFill>
                <a:latin typeface="Calibri"/>
              </a:rPr>
              <a:t>Each row is a historical setpoint change on an artificial-lift well: the well state before the change, the action taken, and the observed 48-hour liquid-rate response.</a:t>
            </a:r>
          </a:p>
          <a:p>
            <a:pPr>
              <a:spcBef>
                <a:spcPts val="1400"/>
              </a:spcBef>
            </a:pPr>
            <a:r>
              <a:rPr sz="1550" b="1" i="0">
                <a:solidFill>
                  <a:srgbClr val="264653"/>
                </a:solidFill>
                <a:latin typeface="Calibri"/>
              </a:rPr>
              <a:t>Goal.  </a:t>
            </a:r>
            <a:r>
              <a:rPr sz="1550" b="0" i="0">
                <a:solidFill>
                  <a:srgbClr val="24333B"/>
                </a:solidFill>
                <a:latin typeface="Calibri"/>
              </a:rPr>
              <a:t>Model the response f(state, action) that maps a well context and a setpoint action to the change in liquid rate, then use it to score new candidate actions.</a:t>
            </a:r>
          </a:p>
          <a:p>
            <a:pPr>
              <a:spcBef>
                <a:spcPts val="1400"/>
              </a:spcBef>
            </a:pPr>
            <a:r>
              <a:rPr sz="1550" b="1" i="0">
                <a:solidFill>
                  <a:srgbClr val="264653"/>
                </a:solidFill>
                <a:latin typeface="Calibri"/>
              </a:rPr>
              <a:t>The catch.  </a:t>
            </a:r>
            <a:r>
              <a:rPr sz="1550" b="0" i="0">
                <a:solidFill>
                  <a:srgbClr val="24333B"/>
                </a:solidFill>
                <a:latin typeface="Calibri"/>
              </a:rPr>
              <a:t>The label is observational, noisy, and confounded by operating conditions. Handling that honestly drives every later choice in the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1783080"/>
            <a:ext cx="2331720" cy="1783080"/>
          </a:xfrm>
          <a:prstGeom prst="roundRect">
            <a:avLst>
              <a:gd name="adj" fmla="val 8000"/>
            </a:avLst>
          </a:prstGeom>
          <a:solidFill>
            <a:srgbClr val="F1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32904" y="1911095"/>
            <a:ext cx="2039112" cy="1527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2A9D8F"/>
                </a:solidFill>
                <a:latin typeface="Cambria"/>
              </a:rPr>
              <a:t>320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B7A85"/>
                </a:solidFill>
                <a:latin typeface="Calibri"/>
              </a:rPr>
              <a:t>intervention 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74352" y="1783080"/>
            <a:ext cx="2331720" cy="1783080"/>
          </a:xfrm>
          <a:prstGeom prst="roundRect">
            <a:avLst>
              <a:gd name="adj" fmla="val 8000"/>
            </a:avLst>
          </a:prstGeom>
          <a:solidFill>
            <a:srgbClr val="F1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20656" y="1911095"/>
            <a:ext cx="2039112" cy="1527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264653"/>
                </a:solidFill>
                <a:latin typeface="Cambria"/>
              </a:rPr>
              <a:t>12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B7A85"/>
                </a:solidFill>
                <a:latin typeface="Calibri"/>
              </a:rPr>
              <a:t>wells, 4 lift modes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3822191"/>
            <a:ext cx="2331720" cy="1783080"/>
          </a:xfrm>
          <a:prstGeom prst="roundRect">
            <a:avLst>
              <a:gd name="adj" fmla="val 8000"/>
            </a:avLst>
          </a:prstGeom>
          <a:solidFill>
            <a:srgbClr val="F1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32904" y="3950207"/>
            <a:ext cx="2039112" cy="1527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2A9D8F"/>
                </a:solidFill>
                <a:latin typeface="Cambria"/>
              </a:rPr>
              <a:t>132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B7A85"/>
                </a:solidFill>
                <a:latin typeface="Calibri"/>
              </a:rPr>
              <a:t>candidate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74352" y="3822191"/>
            <a:ext cx="2331720" cy="1783080"/>
          </a:xfrm>
          <a:prstGeom prst="roundRect">
            <a:avLst>
              <a:gd name="adj" fmla="val 8000"/>
            </a:avLst>
          </a:prstGeom>
          <a:solidFill>
            <a:srgbClr val="F1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20656" y="3950207"/>
            <a:ext cx="2039112" cy="1527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264653"/>
                </a:solidFill>
                <a:latin typeface="Cambria"/>
              </a:rPr>
              <a:t>6 of 12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B7A85"/>
                </a:solidFill>
                <a:latin typeface="Calibri"/>
              </a:rPr>
              <a:t>wells in candidate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4652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0">
                <a:solidFill>
                  <a:srgbClr val="6B7A85"/>
                </a:solidFill>
                <a:latin typeface="Calibri"/>
              </a:rPr>
              <a:t>ASPM Surrogate Modeling Challenge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 spc="140">
                <a:solidFill>
                  <a:srgbClr val="2A9D8F"/>
                </a:solidFill>
                <a:latin typeface="Calibri"/>
              </a:rPr>
              <a:t>EXPLORATORY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783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264653"/>
                </a:solidFill>
                <a:latin typeface="Cambria"/>
              </a:rPr>
              <a:t>What actually drives the response</a:t>
            </a:r>
          </a:p>
        </p:txBody>
      </p:sp>
      <p:pic>
        <p:nvPicPr>
          <p:cNvPr id="4" name="Picture 3" descr="response_vs_g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45597"/>
            <a:ext cx="5806440" cy="381836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892807"/>
            <a:ext cx="137160" cy="137160"/>
          </a:xfrm>
          <a:prstGeom prst="roundRect">
            <a:avLst>
              <a:gd name="adj" fmla="val 4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1801368"/>
            <a:ext cx="49194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i="0">
                <a:solidFill>
                  <a:srgbClr val="264653"/>
                </a:solidFill>
                <a:latin typeface="Calibri"/>
              </a:rPr>
              <a:t>One dominant lever.  </a:t>
            </a:r>
            <a:r>
              <a:rPr sz="1450" b="0" i="0">
                <a:solidFill>
                  <a:srgbClr val="24333B"/>
                </a:solidFill>
                <a:latin typeface="Calibri"/>
              </a:rPr>
              <a:t>Gas-injection change moves the response, about +0.39 m3/d per e3m3d, stable across lift modes.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16936"/>
            <a:ext cx="137160" cy="137160"/>
          </a:xfrm>
          <a:prstGeom prst="roundRect">
            <a:avLst>
              <a:gd name="adj" fmla="val 4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2825496"/>
            <a:ext cx="49194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i="0">
                <a:solidFill>
                  <a:srgbClr val="264653"/>
                </a:solidFill>
                <a:latin typeface="Calibri"/>
              </a:rPr>
              <a:t>Two dead levers.  </a:t>
            </a:r>
            <a:r>
              <a:rPr sz="1450" b="0" i="0">
                <a:solidFill>
                  <a:srgbClr val="24333B"/>
                </a:solidFill>
                <a:latin typeface="Calibri"/>
              </a:rPr>
              <a:t>Afterflow and close-time changes carry no measurable signal.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941064"/>
            <a:ext cx="137160" cy="137160"/>
          </a:xfrm>
          <a:prstGeom prst="roundRect">
            <a:avLst>
              <a:gd name="adj" fmla="val 4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3849624"/>
            <a:ext cx="49194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i="0">
                <a:solidFill>
                  <a:srgbClr val="264653"/>
                </a:solidFill>
                <a:latin typeface="Calibri"/>
              </a:rPr>
              <a:t>Noisy by design.  </a:t>
            </a:r>
            <a:r>
              <a:rPr sz="1450" b="0" i="0">
                <a:solidFill>
                  <a:srgbClr val="24333B"/>
                </a:solidFill>
                <a:latin typeface="Calibri"/>
              </a:rPr>
              <a:t>Even at near-zero action the response still spreads about 3.2 m3/d, so R2 is capped near 0.5.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965192"/>
            <a:ext cx="137160" cy="137160"/>
          </a:xfrm>
          <a:prstGeom prst="roundRect">
            <a:avLst>
              <a:gd name="adj" fmla="val 4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4873752"/>
            <a:ext cx="491947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i="0">
                <a:solidFill>
                  <a:srgbClr val="264653"/>
                </a:solidFill>
                <a:latin typeface="Calibri"/>
              </a:rPr>
              <a:t>Confounders.  </a:t>
            </a:r>
            <a:r>
              <a:rPr sz="1450" b="0" i="0">
                <a:solidFill>
                  <a:srgbClr val="24333B"/>
                </a:solidFill>
                <a:latin typeface="Calibri"/>
              </a:rPr>
              <a:t>Downtime and facility flags shift the response and track action size. All candidates sit in the clean regime.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4652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0">
                <a:solidFill>
                  <a:srgbClr val="6B7A85"/>
                </a:solidFill>
                <a:latin typeface="Calibri"/>
              </a:rPr>
              <a:t>ASPM Surrogate Modeling Challenge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 spc="140">
                <a:solidFill>
                  <a:srgbClr val="2A9D8F"/>
                </a:solidFill>
                <a:latin typeface="Calibr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783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264653"/>
                </a:solidFill>
                <a:latin typeface="Cambria"/>
              </a:rPr>
              <a:t>Validation built for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0" i="0">
                <a:solidFill>
                  <a:srgbClr val="6B7A85"/>
                </a:solidFill>
                <a:latin typeface="Calibri"/>
              </a:rPr>
              <a:t>Out-of-fold cross-validation with three lenses. With 320 rows over 12 wells, one holdout is too noisy to trust.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148840"/>
          <a:ext cx="781812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marL="109728" anchor="ctr"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What it tests</a:t>
                      </a:r>
                    </a:p>
                  </a:txBody>
                  <a:tcPr marL="109728" anchor="ctr"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Deployment relevance</a:t>
                      </a:r>
                    </a:p>
                  </a:txBody>
                  <a:tcPr marL="109728" anchor="ctr"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64653"/>
                          </a:solidFill>
                          <a:latin typeface="Calibri"/>
                        </a:rPr>
                        <a:t>Random 5-fold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333B"/>
                          </a:solidFill>
                          <a:latin typeface="Calibri"/>
                        </a:rPr>
                        <a:t>Interpolation, same wells in train and test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333B"/>
                          </a:solidFill>
                          <a:latin typeface="Calibri"/>
                        </a:rPr>
                        <a:t>Re-optimizing wells we already operate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64653"/>
                          </a:solidFill>
                          <a:latin typeface="Calibri"/>
                        </a:rPr>
                        <a:t>Group 5-fold by well</a:t>
                      </a:r>
                    </a:p>
                  </a:txBody>
                  <a:tcPr marL="109728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333B"/>
                          </a:solidFill>
                          <a:latin typeface="Calibri"/>
                        </a:rPr>
                        <a:t>Generalization to wells with no history</a:t>
                      </a:r>
                    </a:p>
                  </a:txBody>
                  <a:tcPr marL="109728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333B"/>
                          </a:solidFill>
                          <a:latin typeface="Calibri"/>
                        </a:rPr>
                        <a:t>The conservative bound; gates recommendation safety</a:t>
                      </a:r>
                    </a:p>
                  </a:txBody>
                  <a:tcPr marL="109728" anchor="ctr">
                    <a:solidFill>
                      <a:srgbClr val="F1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64653"/>
                          </a:solidFill>
                          <a:latin typeface="Calibri"/>
                        </a:rPr>
                        <a:t>Time split (75 / 25)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333B"/>
                          </a:solidFill>
                          <a:latin typeface="Calibri"/>
                        </a:rPr>
                        <a:t>Temporal drift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333B"/>
                          </a:solidFill>
                          <a:latin typeface="Calibri"/>
                        </a:rPr>
                        <a:t>Does a model fit on the past hold up later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0" y="2148840"/>
            <a:ext cx="2971800" cy="1170432"/>
          </a:xfrm>
          <a:prstGeom prst="roundRect">
            <a:avLst>
              <a:gd name="adj" fmla="val 8000"/>
            </a:avLst>
          </a:prstGeom>
          <a:solidFill>
            <a:srgbClr val="CF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33104" y="2276856"/>
            <a:ext cx="2679192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2A9D8F"/>
                </a:solidFill>
                <a:latin typeface="Cambria"/>
              </a:rPr>
              <a:t>0.41  ≈  0.42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264653"/>
                </a:solidFill>
                <a:latin typeface="Calibri"/>
              </a:rPr>
              <a:t>random R2  vs  group R2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3520440"/>
            <a:ext cx="29718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 i="0">
                <a:solidFill>
                  <a:srgbClr val="24333B"/>
                </a:solidFill>
                <a:latin typeface="Calibri"/>
              </a:rPr>
              <a:t>The near-zero gap means the gas effect is shared physics, not memorized per-well offsets, so the model transfers to wells with no history.</a:t>
            </a:r>
          </a:p>
          <a:p>
            <a:pPr>
              <a:spcBef>
                <a:spcPts val="1000"/>
              </a:spcBef>
            </a:pPr>
            <a:r>
              <a:rPr sz="1350" b="0" i="1">
                <a:solidFill>
                  <a:srgbClr val="6B7A85"/>
                </a:solidFill>
                <a:latin typeface="Calibri"/>
              </a:rPr>
              <a:t>Cross-validation still measures prediction inside the historical regime, not the causal effect of an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4652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0">
                <a:solidFill>
                  <a:srgbClr val="6B7A85"/>
                </a:solidFill>
                <a:latin typeface="Calibri"/>
              </a:rPr>
              <a:t>ASPM Surrogate Modeling Challenge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 spc="140">
                <a:solidFill>
                  <a:srgbClr val="2A9D8F"/>
                </a:solidFill>
                <a:latin typeface="Calibri"/>
              </a:rPr>
              <a:t>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783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264653"/>
                </a:solidFill>
                <a:latin typeface="Cambria"/>
              </a:rPr>
              <a:t>A deliberately simple surrogate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22116"/>
            <a:ext cx="5669280" cy="372816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938527"/>
            <a:ext cx="137160" cy="137160"/>
          </a:xfrm>
          <a:prstGeom prst="roundRect">
            <a:avLst>
              <a:gd name="adj" fmla="val 4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1847088"/>
            <a:ext cx="496519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i="0">
                <a:solidFill>
                  <a:srgbClr val="264653"/>
                </a:solidFill>
                <a:latin typeface="Calibri"/>
              </a:rPr>
              <a:t>Four inputs.  </a:t>
            </a:r>
            <a:r>
              <a:rPr sz="1450" b="0" i="0">
                <a:solidFill>
                  <a:srgbClr val="24333B"/>
                </a:solidFill>
                <a:latin typeface="Calibri"/>
              </a:rPr>
              <a:t>Quality-weighted Ridge on gas action, lift mode, downtime flag, and facility flag.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172968"/>
            <a:ext cx="137160" cy="137160"/>
          </a:xfrm>
          <a:prstGeom prst="roundRect">
            <a:avLst>
              <a:gd name="adj" fmla="val 4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3081528"/>
            <a:ext cx="496519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i="0">
                <a:solidFill>
                  <a:srgbClr val="264653"/>
                </a:solidFill>
                <a:latin typeface="Calibri"/>
              </a:rPr>
              <a:t>Complexity did not pay.  </a:t>
            </a:r>
            <a:r>
              <a:rPr sz="1450" b="0" i="0">
                <a:solidFill>
                  <a:srgbClr val="24333B"/>
                </a:solidFill>
                <a:latin typeface="Calibri"/>
              </a:rPr>
              <a:t>All 24 features, gradient boosting, and random forest were tested. None beat it on new wells.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407408"/>
            <a:ext cx="137160" cy="137160"/>
          </a:xfrm>
          <a:prstGeom prst="roundRect">
            <a:avLst>
              <a:gd name="adj" fmla="val 4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4315968"/>
            <a:ext cx="496519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i="0">
                <a:solidFill>
                  <a:srgbClr val="264653"/>
                </a:solidFill>
                <a:latin typeface="Calibri"/>
              </a:rPr>
              <a:t>Interpretable and safe.  </a:t>
            </a:r>
            <a:r>
              <a:rPr sz="1450" b="0" i="0">
                <a:solidFill>
                  <a:srgbClr val="24333B"/>
                </a:solidFill>
                <a:latin typeface="Calibri"/>
              </a:rPr>
              <a:t>Its gas coefficient matches the physical slope; an unseen well degrades to a sensible baseline.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4652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0">
                <a:solidFill>
                  <a:srgbClr val="6B7A85"/>
                </a:solidFill>
                <a:latin typeface="Calibri"/>
              </a:rPr>
              <a:t>ASPM Surrogate Modeling Challenge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 spc="140">
                <a:solidFill>
                  <a:srgbClr val="2A9D8F"/>
                </a:solidFill>
                <a:latin typeface="Calibri"/>
              </a:rP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783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264653"/>
                </a:solidFill>
                <a:latin typeface="Cambria"/>
              </a:rPr>
              <a:t>Performance, and its ceiling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2834640" cy="1143000"/>
          </a:xfrm>
          <a:prstGeom prst="roundRect">
            <a:avLst>
              <a:gd name="adj" fmla="val 8000"/>
            </a:avLst>
          </a:prstGeom>
          <a:solidFill>
            <a:srgbClr val="F1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911095"/>
            <a:ext cx="2542032" cy="8869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2A9D8F"/>
                </a:solidFill>
                <a:latin typeface="Cambria"/>
              </a:rPr>
              <a:t>0.418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B7A85"/>
                </a:solidFill>
                <a:latin typeface="Calibri"/>
              </a:rPr>
              <a:t>group R2 (new-well)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154680"/>
            <a:ext cx="2834640" cy="1143000"/>
          </a:xfrm>
          <a:prstGeom prst="roundRect">
            <a:avLst>
              <a:gd name="adj" fmla="val 8000"/>
            </a:avLst>
          </a:prstGeom>
          <a:solidFill>
            <a:srgbClr val="F1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3282696"/>
            <a:ext cx="2542032" cy="8869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264653"/>
                </a:solidFill>
                <a:latin typeface="Cambria"/>
              </a:rPr>
              <a:t>2.52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B7A85"/>
                </a:solidFill>
                <a:latin typeface="Calibri"/>
              </a:rPr>
              <a:t>MAE, m3/d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6280"/>
            <a:ext cx="2834640" cy="1143000"/>
          </a:xfrm>
          <a:prstGeom prst="roundRect">
            <a:avLst>
              <a:gd name="adj" fmla="val 8000"/>
            </a:avLst>
          </a:prstGeom>
          <a:solidFill>
            <a:srgbClr val="F1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4654296"/>
            <a:ext cx="2542032" cy="8869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E9C46A"/>
                </a:solidFill>
                <a:latin typeface="Cambria"/>
              </a:rPr>
              <a:t>~ 0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B7A85"/>
                </a:solidFill>
                <a:latin typeface="Calibri"/>
              </a:rPr>
              <a:t>gap, random vs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0644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0" i="1">
                <a:solidFill>
                  <a:srgbClr val="6B7A85"/>
                </a:solidFill>
                <a:latin typeface="Calibri"/>
              </a:rPr>
              <a:t>Close to the ceiling set by label noise, not underfitting.</a:t>
            </a:r>
          </a:p>
        </p:txBody>
      </p:sp>
      <p:pic>
        <p:nvPicPr>
          <p:cNvPr id="11" name="Picture 10" descr="pred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184" y="1691640"/>
            <a:ext cx="5206431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644652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0">
                <a:solidFill>
                  <a:srgbClr val="6B7A85"/>
                </a:solidFill>
                <a:latin typeface="Calibri"/>
              </a:rPr>
              <a:t>ASPM Surrogate Modeling Challenge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 spc="140">
                <a:solidFill>
                  <a:srgbClr val="2A9D8F"/>
                </a:solidFill>
                <a:latin typeface="Calibri"/>
              </a:rPr>
              <a:t>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783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 i="0">
                <a:solidFill>
                  <a:srgbClr val="264653"/>
                </a:solidFill>
                <a:latin typeface="Cambria"/>
              </a:rPr>
              <a:t>Every prediction ships with a calibrated interval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i="0">
                <a:solidFill>
                  <a:srgbClr val="264653"/>
                </a:solidFill>
                <a:latin typeface="Calibri"/>
              </a:rPr>
              <a:t>Normalized split-conformal on held-out residuals.  </a:t>
            </a:r>
            <a:r>
              <a:rPr sz="1450" b="0" i="0">
                <a:solidFill>
                  <a:srgbClr val="24333B"/>
                </a:solidFill>
                <a:latin typeface="Calibri"/>
              </a:rPr>
              <a:t>80% target gives 0.80 coverage, 90% gives 0.90. Intervals widen on noisier events, so the width itself is a trust signal.</a:t>
            </a:r>
          </a:p>
        </p:txBody>
      </p:sp>
      <p:pic>
        <p:nvPicPr>
          <p:cNvPr id="5" name="Picture 4" descr="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789" y="2331720"/>
            <a:ext cx="4654677" cy="3794760"/>
          </a:xfrm>
          <a:prstGeom prst="rect">
            <a:avLst/>
          </a:prstGeom>
        </p:spPr>
      </p:pic>
      <p:pic>
        <p:nvPicPr>
          <p:cNvPr id="6" name="Picture 5" descr="width_by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941" y="2331720"/>
            <a:ext cx="4654677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1722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7A85"/>
                </a:solidFill>
                <a:latin typeface="Calibri"/>
              </a:rPr>
              <a:t>Left: coverage lands on target at every level.    Right: mean interval width, contaminated 11.7 vs clean 8.0 m3/d.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4652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 spc="140">
                <a:solidFill>
                  <a:srgbClr val="E76F51"/>
                </a:solidFill>
                <a:latin typeface="Calibri"/>
              </a:rPr>
              <a:t>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783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264653"/>
                </a:solidFill>
                <a:latin typeface="Cambria"/>
              </a:rPr>
              <a:t>Where the model is weak</a:t>
            </a:r>
          </a:p>
        </p:txBody>
      </p:sp>
      <p:pic>
        <p:nvPicPr>
          <p:cNvPr id="4" name="Picture 3" descr="error_by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42969"/>
            <a:ext cx="5257800" cy="42864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892807"/>
            <a:ext cx="137160" cy="137160"/>
          </a:xfrm>
          <a:prstGeom prst="roundRect">
            <a:avLst>
              <a:gd name="adj" fmla="val 40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1801368"/>
            <a:ext cx="533095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i="0">
                <a:solidFill>
                  <a:srgbClr val="264653"/>
                </a:solidFill>
                <a:latin typeface="Calibri"/>
              </a:rPr>
              <a:t>Blind to two levers.  </a:t>
            </a:r>
            <a:r>
              <a:rPr sz="1450" b="0" i="0">
                <a:solidFill>
                  <a:srgbClr val="24333B"/>
                </a:solidFill>
                <a:latin typeface="Calibri"/>
              </a:rPr>
              <a:t>Afterflow and close-time get no effect. Correct here, a real gap if they matter in the field.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71799"/>
            <a:ext cx="137160" cy="137160"/>
          </a:xfrm>
          <a:prstGeom prst="roundRect">
            <a:avLst>
              <a:gd name="adj" fmla="val 40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2880360"/>
            <a:ext cx="533095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i="0">
                <a:solidFill>
                  <a:srgbClr val="264653"/>
                </a:solidFill>
                <a:latin typeface="Calibri"/>
              </a:rPr>
              <a:t>Coverage dips on noise.  </a:t>
            </a:r>
            <a:r>
              <a:rPr sz="1450" b="0" i="0">
                <a:solidFill>
                  <a:srgbClr val="24333B"/>
                </a:solidFill>
                <a:latin typeface="Calibri"/>
              </a:rPr>
              <a:t>Contaminated and low-quality events are slightly under-covered by the intervals.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050791"/>
            <a:ext cx="137160" cy="137160"/>
          </a:xfrm>
          <a:prstGeom prst="roundRect">
            <a:avLst>
              <a:gd name="adj" fmla="val 40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3959351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i="0">
                <a:solidFill>
                  <a:srgbClr val="264653"/>
                </a:solidFill>
                <a:latin typeface="Calibri"/>
              </a:rPr>
              <a:t>Linear.  </a:t>
            </a:r>
            <a:r>
              <a:rPr sz="1450" b="0" i="0">
                <a:solidFill>
                  <a:srgbClr val="24333B"/>
                </a:solidFill>
                <a:latin typeface="Calibri"/>
              </a:rPr>
              <a:t>Cannot capture saturation of the gas response at extreme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129784"/>
            <a:ext cx="137160" cy="137160"/>
          </a:xfrm>
          <a:prstGeom prst="roundRect">
            <a:avLst>
              <a:gd name="adj" fmla="val 40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5038344"/>
            <a:ext cx="533095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i="0">
                <a:solidFill>
                  <a:srgbClr val="264653"/>
                </a:solidFill>
                <a:latin typeface="Calibri"/>
              </a:rPr>
              <a:t>Association, not cause.  </a:t>
            </a:r>
            <a:r>
              <a:rPr sz="1450" b="0" i="0">
                <a:solidFill>
                  <a:srgbClr val="24333B"/>
                </a:solidFill>
                <a:latin typeface="Calibri"/>
              </a:rPr>
              <a:t>It inherits the label confounding; errors are largest on the noisiest wells.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4652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0">
                <a:solidFill>
                  <a:srgbClr val="6B7A85"/>
                </a:solidFill>
                <a:latin typeface="Calibri"/>
              </a:rPr>
              <a:t>ASPM Surrogate Modeling Challenge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 spc="140">
                <a:solidFill>
                  <a:srgbClr val="2A9D8F"/>
                </a:solidFill>
                <a:latin typeface="Calibri"/>
              </a:rPr>
              <a:t>SAFE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783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264653"/>
                </a:solidFill>
                <a:latin typeface="Cambria"/>
              </a:rPr>
              <a:t>A safety-first recommendation rule</a:t>
            </a:r>
          </a:p>
        </p:txBody>
      </p:sp>
      <p:pic>
        <p:nvPicPr>
          <p:cNvPr id="4" name="Picture 3" descr="recs_by_g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318146"/>
            <a:ext cx="5669280" cy="34104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755648"/>
            <a:ext cx="137160" cy="137160"/>
          </a:xfrm>
          <a:prstGeom prst="roundRect">
            <a:avLst>
              <a:gd name="adj" fmla="val 4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1664208"/>
            <a:ext cx="5010912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 i="0">
                <a:solidFill>
                  <a:srgbClr val="24333B"/>
                </a:solidFill>
                <a:latin typeface="Calibri"/>
              </a:rPr>
              <a:t>The entire 80% interval sits above zero (a confident gain).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414016"/>
            <a:ext cx="137160" cy="137160"/>
          </a:xfrm>
          <a:prstGeom prst="roundRect">
            <a:avLst>
              <a:gd name="adj" fmla="val 4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2322576"/>
            <a:ext cx="5010912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 i="0">
                <a:solidFill>
                  <a:srgbClr val="24333B"/>
                </a:solidFill>
                <a:latin typeface="Calibri"/>
              </a:rPr>
              <a:t>Inside historical support (neighbour distance within p95).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72384"/>
            <a:ext cx="137160" cy="137160"/>
          </a:xfrm>
          <a:prstGeom prst="roundRect">
            <a:avLst>
              <a:gd name="adj" fmla="val 4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980944"/>
            <a:ext cx="5010912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 i="0">
                <a:solidFill>
                  <a:srgbClr val="24333B"/>
                </a:solidFill>
                <a:latin typeface="Calibri"/>
              </a:rPr>
              <a:t>Gas change within the historical p95 of 16.1 e3m3d.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730752"/>
            <a:ext cx="137160" cy="137160"/>
          </a:xfrm>
          <a:prstGeom prst="roundRect">
            <a:avLst>
              <a:gd name="adj" fmla="val 4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3639312"/>
            <a:ext cx="5010912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 i="0">
                <a:solidFill>
                  <a:srgbClr val="24333B"/>
                </a:solidFill>
                <a:latin typeface="Calibri"/>
              </a:rPr>
              <a:t>Clean operating regime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89120"/>
            <a:ext cx="137160" cy="137160"/>
          </a:xfrm>
          <a:prstGeom prst="roundRect">
            <a:avLst>
              <a:gd name="adj" fmla="val 4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4297680"/>
            <a:ext cx="5010912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 i="0">
                <a:solidFill>
                  <a:srgbClr val="24333B"/>
                </a:solidFill>
                <a:latin typeface="Calibri"/>
              </a:rPr>
              <a:t>Adequate context data quality.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029199"/>
            <a:ext cx="5303520" cy="868680"/>
          </a:xfrm>
          <a:prstGeom prst="roundRect">
            <a:avLst>
              <a:gd name="adj" fmla="val 10000"/>
            </a:avLst>
          </a:prstGeom>
          <a:solidFill>
            <a:srgbClr val="CF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5148071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264653"/>
                </a:solidFill>
                <a:latin typeface="Calibri"/>
              </a:rPr>
              <a:t>We rank by the lower confidence bound, never the raw predicted mean.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4652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0">
                <a:solidFill>
                  <a:srgbClr val="6B7A85"/>
                </a:solidFill>
                <a:latin typeface="Calibri"/>
              </a:rPr>
              <a:t>ASPM Surrogate Modeling Challenge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 spc="140">
                <a:solidFill>
                  <a:srgbClr val="2A9D8F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783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264653"/>
                </a:solidFill>
                <a:latin typeface="Cambria"/>
              </a:rPr>
              <a:t>Scoring the 132 candidate 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F1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911095"/>
            <a:ext cx="2039112" cy="11155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2A9D8F"/>
                </a:solidFill>
                <a:latin typeface="Cambria"/>
              </a:rPr>
              <a:t>12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B7A85"/>
                </a:solidFill>
                <a:latin typeface="Calibri"/>
              </a:rPr>
              <a:t>recommended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33756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F1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3465576"/>
            <a:ext cx="2039112" cy="11155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E76F51"/>
                </a:solidFill>
                <a:latin typeface="Cambria"/>
              </a:rPr>
              <a:t>120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6B7A85"/>
                </a:solidFill>
                <a:latin typeface="Calibri"/>
              </a:rPr>
              <a:t>held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892040"/>
            <a:ext cx="23317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0" i="0">
                <a:solidFill>
                  <a:srgbClr val="6B7A85"/>
                </a:solidFill>
                <a:latin typeface="Calibri"/>
              </a:rPr>
              <a:t>Every negative, zero, and small-positive gas action is held for lack of a confident gain.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46120" y="1783080"/>
          <a:ext cx="8138160" cy="3730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R="73152" marT="27432" marB="27432" anchor="ctr"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Well</a:t>
                      </a:r>
                    </a:p>
                  </a:txBody>
                  <a:tcPr marR="73152" marT="27432" marB="27432" anchor="ctr"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Lift mode</a:t>
                      </a:r>
                    </a:p>
                  </a:txBody>
                  <a:tcPr marR="73152" marT="27432" marB="27432" anchor="ctr"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Gas</a:t>
                      </a:r>
                    </a:p>
                  </a:txBody>
                  <a:tcPr marR="73152" marT="27432" marB="27432" anchor="ctr"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Pred</a:t>
                      </a:r>
                    </a:p>
                  </a:txBody>
                  <a:tcPr marR="73152" marT="27432" marB="27432" anchor="ctr"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LB 80%</a:t>
                      </a:r>
                    </a:p>
                  </a:txBody>
                  <a:tcPr marR="73152" marT="27432" marB="27432" anchor="ctr"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SCEN_042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WELL_05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gas assisted plunger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+14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5.08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SCEN_024</a:t>
                      </a:r>
                    </a:p>
                  </a:txBody>
                  <a:tcPr marR="73152" marT="27432" marB="27432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WELL_12</a:t>
                      </a:r>
                    </a:p>
                  </a:txBody>
                  <a:tcPr marR="73152" marT="27432" marB="27432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gas lift</a:t>
                      </a:r>
                    </a:p>
                  </a:txBody>
                  <a:tcPr marR="73152" marT="27432" marB="27432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+14</a:t>
                      </a:r>
                    </a:p>
                  </a:txBody>
                  <a:tcPr marR="73152" marT="27432" marB="27432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4.75</a:t>
                      </a:r>
                    </a:p>
                  </a:txBody>
                  <a:tcPr marR="73152" marT="27432" marB="27432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 marR="73152" marT="27432" marB="27432" anchor="ctr">
                    <a:solidFill>
                      <a:srgbClr val="F1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SCEN_131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WELL_07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gas assisted plunger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+14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5.08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SCEN_040</a:t>
                      </a:r>
                    </a:p>
                  </a:txBody>
                  <a:tcPr marR="73152" marT="27432" marB="27432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WELL_05</a:t>
                      </a:r>
                    </a:p>
                  </a:txBody>
                  <a:tcPr marR="73152" marT="27432" marB="27432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gas assisted plunger</a:t>
                      </a:r>
                    </a:p>
                  </a:txBody>
                  <a:tcPr marR="73152" marT="27432" marB="27432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+14</a:t>
                      </a:r>
                    </a:p>
                  </a:txBody>
                  <a:tcPr marR="73152" marT="27432" marB="27432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5.08</a:t>
                      </a:r>
                    </a:p>
                  </a:txBody>
                  <a:tcPr marR="73152" marT="27432" marB="27432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 marR="73152" marT="27432" marB="27432" anchor="ctr">
                    <a:solidFill>
                      <a:srgbClr val="F1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SCEN_130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WELL_07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gas assisted plunger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+14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5.08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SCEN_129</a:t>
                      </a:r>
                    </a:p>
                  </a:txBody>
                  <a:tcPr marR="73152" marT="27432" marB="27432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WELL_07</a:t>
                      </a:r>
                    </a:p>
                  </a:txBody>
                  <a:tcPr marR="73152" marT="27432" marB="27432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gas assisted plunger</a:t>
                      </a:r>
                    </a:p>
                  </a:txBody>
                  <a:tcPr marR="73152" marT="27432" marB="27432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+14</a:t>
                      </a:r>
                    </a:p>
                  </a:txBody>
                  <a:tcPr marR="73152" marT="27432" marB="27432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5.08</a:t>
                      </a:r>
                    </a:p>
                  </a:txBody>
                  <a:tcPr marR="73152" marT="27432" marB="27432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4333B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 marR="73152" marT="27432" marB="27432" anchor="ctr">
                    <a:solidFill>
                      <a:srgbClr val="F1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46120" y="5623560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0" i="1">
                <a:solidFill>
                  <a:srgbClr val="6B7A85"/>
                </a:solidFill>
                <a:latin typeface="Calibri"/>
              </a:rPr>
              <a:t>Recommendations concentrate on the largest positive gas changes on the best-supported, lowest-uncertainty wells.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4652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03504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 spc="150">
                <a:solidFill>
                  <a:srgbClr val="2A9D8F"/>
                </a:solidFill>
                <a:latin typeface="Calibri"/>
              </a:rPr>
              <a:t>BEFORE FIELD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105783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What we would need before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0116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2F5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68096" y="2212848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 i="0">
                <a:solidFill>
                  <a:srgbClr val="26465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194560"/>
            <a:ext cx="26517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Interventional data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CFE3DF"/>
                </a:solidFill>
                <a:latin typeface="Calibri"/>
              </a:rPr>
              <a:t>A small staged or randomized rollout to separate causation from confounding.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20116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2F5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626864" y="2212848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 i="0">
                <a:solidFill>
                  <a:srgbClr val="264653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7216" y="2194560"/>
            <a:ext cx="26517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More wells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CFE3DF"/>
                </a:solidFill>
                <a:latin typeface="Calibri"/>
              </a:rPr>
              <a:t>Twelve is thin for broad generalization across the fleet.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84463" y="20116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2F5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85632" y="2212848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 i="0">
                <a:solidFill>
                  <a:srgbClr val="264653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5984" y="2194560"/>
            <a:ext cx="26517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Other levers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CFE3DF"/>
                </a:solidFill>
                <a:latin typeface="Calibri"/>
              </a:rPr>
              <a:t>Afterflow and close-time show no signal yet; the model cannot score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690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2F5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68096" y="4270248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 i="0">
                <a:solidFill>
                  <a:srgbClr val="264653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251960"/>
            <a:ext cx="26517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Monitoring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CFE3DF"/>
                </a:solidFill>
                <a:latin typeface="Calibri"/>
              </a:rPr>
              <a:t>Track realized vs predicted, refresh the intervals, and watch for drift.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40690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2F5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26864" y="4270248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 i="0">
                <a:solidFill>
                  <a:srgbClr val="264653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4251960"/>
            <a:ext cx="26517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Guardrails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CFE3DF"/>
                </a:solidFill>
                <a:latin typeface="Calibri"/>
              </a:rPr>
              <a:t>Per-well caps, staged large changes, auto-hold outside the clean regime.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3" y="40690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2F5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85632" y="4270248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 i="0">
                <a:solidFill>
                  <a:srgbClr val="264653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4251960"/>
            <a:ext cx="26517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Human in the loop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CFE3DF"/>
                </a:solidFill>
                <a:latin typeface="Calibri"/>
              </a:rPr>
              <a:t>One input to a recommendation, not an autonomous controller.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4652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0">
                <a:solidFill>
                  <a:srgbClr val="8FA6A2"/>
                </a:solidFill>
                <a:latin typeface="Calibri"/>
              </a:rPr>
              <a:t>ASPM Surrogate Modeling Challenge    |  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959</Words>
  <Application>Microsoft Macintosh PowerPoint</Application>
  <PresentationFormat>Widescreen</PresentationFormat>
  <Paragraphs>154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DELOWAR HOSSAIN</cp:lastModifiedBy>
  <cp:revision>3</cp:revision>
  <dcterms:created xsi:type="dcterms:W3CDTF">2013-01-27T09:14:16Z</dcterms:created>
  <dcterms:modified xsi:type="dcterms:W3CDTF">2026-08-06T02:47:12Z</dcterms:modified>
  <cp:category/>
</cp:coreProperties>
</file>